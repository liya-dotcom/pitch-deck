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mo" panose="020B0604020202020204" charset="0"/>
      <p:regular r:id="rId17"/>
    </p:embeddedFont>
    <p:embeddedFont>
      <p:font typeface="Barlow" panose="00000500000000000000" pitchFamily="2" charset="0"/>
      <p:regular r:id="rId18"/>
    </p:embeddedFont>
    <p:embeddedFont>
      <p:font typeface="Barlow Bold" panose="00000800000000000000" charset="0"/>
      <p:regular r:id="rId19"/>
    </p:embeddedFont>
    <p:embeddedFont>
      <p:font typeface="Barlow Medium" panose="00000600000000000000" pitchFamily="2" charset="0"/>
      <p:regular r:id="rId20"/>
    </p:embeddedFont>
    <p:embeddedFont>
      <p:font typeface="Barlow Semi-Bold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nva Sans" panose="020B0604020202020204" charset="0"/>
      <p:regular r:id="rId26"/>
    </p:embeddedFont>
    <p:embeddedFont>
      <p:font typeface="Canva Sans Bold" panose="020B0604020202020204" charset="0"/>
      <p:regular r:id="rId27"/>
    </p:embeddedFont>
    <p:embeddedFont>
      <p:font typeface="Poppins" panose="00000500000000000000" pitchFamily="2" charset="0"/>
      <p:regular r:id="rId28"/>
    </p:embeddedFont>
    <p:embeddedFont>
      <p:font typeface="Poppins Bold" panose="00000800000000000000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2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B6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52450"/>
            <a:ext cx="9601200" cy="11544300"/>
          </a:xfrm>
          <a:custGeom>
            <a:avLst/>
            <a:gdLst/>
            <a:ahLst/>
            <a:cxnLst/>
            <a:rect l="l" t="t" r="r" b="b"/>
            <a:pathLst>
              <a:path w="9601200" h="115443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b="-1008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3663" y="143884"/>
            <a:ext cx="1837509" cy="1837509"/>
          </a:xfrm>
          <a:custGeom>
            <a:avLst/>
            <a:gdLst/>
            <a:ahLst/>
            <a:cxnLst/>
            <a:rect l="l" t="t" r="r" b="b"/>
            <a:pathLst>
              <a:path w="1837509" h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40652" y="1534066"/>
            <a:ext cx="7118648" cy="7371268"/>
          </a:xfrm>
          <a:custGeom>
            <a:avLst/>
            <a:gdLst/>
            <a:ahLst/>
            <a:cxnLst/>
            <a:rect l="l" t="t" r="r" b="b"/>
            <a:pathLst>
              <a:path w="7118648" h="7371268">
                <a:moveTo>
                  <a:pt x="0" y="0"/>
                </a:moveTo>
                <a:lnTo>
                  <a:pt x="7118648" y="0"/>
                </a:lnTo>
                <a:lnTo>
                  <a:pt x="7118648" y="7371268"/>
                </a:lnTo>
                <a:lnTo>
                  <a:pt x="0" y="7371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110" r="-42110"/>
            </a:stretch>
          </a:blipFill>
          <a:ln cap="rnd">
            <a:noFill/>
            <a:prstDash val="lgDash"/>
            <a:round/>
          </a:ln>
        </p:spPr>
      </p:sp>
      <p:sp>
        <p:nvSpPr>
          <p:cNvPr id="5" name="TextBox 5"/>
          <p:cNvSpPr txBox="1"/>
          <p:nvPr/>
        </p:nvSpPr>
        <p:spPr>
          <a:xfrm>
            <a:off x="1028700" y="4670425"/>
            <a:ext cx="6994911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Learn 2gether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9257" y="9576600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773410"/>
            <a:ext cx="7751213" cy="1065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5"/>
              </a:lnSpc>
            </a:pPr>
            <a:r>
              <a:rPr lang="en-US" sz="6962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10663681" y="1028700"/>
            <a:ext cx="6595619" cy="8229600"/>
          </a:xfrm>
          <a:custGeom>
            <a:avLst/>
            <a:gdLst/>
            <a:ahLst/>
            <a:cxnLst/>
            <a:rect l="l" t="t" r="r" b="b"/>
            <a:pathLst>
              <a:path w="6595619" h="8229600">
                <a:moveTo>
                  <a:pt x="0" y="0"/>
                </a:moveTo>
                <a:lnTo>
                  <a:pt x="6595619" y="0"/>
                </a:lnTo>
                <a:lnTo>
                  <a:pt x="6595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08" b="-1010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0320" y="2651079"/>
            <a:ext cx="10042816" cy="549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1967" lvl="1" indent="-335984" algn="l">
              <a:lnSpc>
                <a:spcPts val="4357"/>
              </a:lnSpc>
              <a:spcBef>
                <a:spcPct val="0"/>
              </a:spcBef>
              <a:buFont typeface="Arial"/>
              <a:buChar char="•"/>
            </a:pPr>
            <a:r>
              <a:rPr lang="en-US" sz="311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Isolation in Learning</a:t>
            </a:r>
            <a:r>
              <a:rPr lang="en-US" sz="311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Many students struggle alone without peer support.</a:t>
            </a:r>
          </a:p>
          <a:p>
            <a:pPr marL="671967" lvl="1" indent="-335984" algn="l">
              <a:lnSpc>
                <a:spcPts val="4357"/>
              </a:lnSpc>
              <a:spcBef>
                <a:spcPct val="0"/>
              </a:spcBef>
              <a:buFont typeface="Arial"/>
              <a:buChar char="•"/>
            </a:pPr>
            <a:r>
              <a:rPr lang="en-US" sz="311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Engagement</a:t>
            </a:r>
            <a:r>
              <a:rPr lang="en-US" sz="311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Traditional e-learning platforms are passive and lack interactivity.</a:t>
            </a:r>
          </a:p>
          <a:p>
            <a:pPr marL="671967" lvl="1" indent="-335984" algn="l">
              <a:lnSpc>
                <a:spcPts val="4357"/>
              </a:lnSpc>
              <a:spcBef>
                <a:spcPct val="0"/>
              </a:spcBef>
              <a:buFont typeface="Arial"/>
              <a:buChar char="•"/>
            </a:pPr>
            <a:r>
              <a:rPr lang="en-US" sz="311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Difficulty Finding Study Partners</a:t>
            </a:r>
            <a:r>
              <a:rPr lang="en-US" sz="311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Students often need help but don’t know where to find study buddies.</a:t>
            </a:r>
          </a:p>
          <a:p>
            <a:pPr marL="671967" lvl="1" indent="-335984" algn="l">
              <a:lnSpc>
                <a:spcPts val="4357"/>
              </a:lnSpc>
              <a:spcBef>
                <a:spcPct val="0"/>
              </a:spcBef>
              <a:buFont typeface="Arial"/>
              <a:buChar char="•"/>
            </a:pPr>
            <a:r>
              <a:rPr lang="en-US" sz="311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 Management Issues</a:t>
            </a:r>
            <a:r>
              <a:rPr lang="en-US" sz="311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Learners struggle to stay consistent and track progress effectively. </a:t>
            </a:r>
          </a:p>
          <a:p>
            <a:pPr algn="ctr">
              <a:lnSpc>
                <a:spcPts val="4655"/>
              </a:lnSpc>
              <a:spcBef>
                <a:spcPct val="0"/>
              </a:spcBef>
            </a:pPr>
            <a:endParaRPr lang="en-US" sz="3112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474293" y="543843"/>
              <a:ext cx="463671" cy="324570"/>
            </a:xfrm>
            <a:custGeom>
              <a:avLst/>
              <a:gdLst/>
              <a:ahLst/>
              <a:cxnLst/>
              <a:rect l="l" t="t" r="r" b="b"/>
              <a:pathLst>
                <a:path w="463671" h="324570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625742"/>
            <a:ext cx="957111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8000" b="1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Solution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24078" y="2081603"/>
            <a:ext cx="14803087" cy="717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86"/>
              </a:lnSpc>
            </a:pPr>
            <a:r>
              <a:rPr lang="en-US" sz="4155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 2gether</a:t>
            </a:r>
            <a:r>
              <a:rPr lang="en-US" sz="4155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 an interactive platform where learners:</a:t>
            </a:r>
          </a:p>
          <a:p>
            <a:pPr marL="0" lvl="0" indent="0" algn="l">
              <a:lnSpc>
                <a:spcPts val="5678"/>
              </a:lnSpc>
            </a:pPr>
            <a:r>
              <a:rPr lang="en-US" sz="4055" u="none" spc="6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Join </a:t>
            </a:r>
            <a:r>
              <a:rPr lang="en-US" sz="4055" b="1" u="none" spc="6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shared study groups</a:t>
            </a:r>
            <a:r>
              <a:rPr lang="en-US" sz="4055" u="none" spc="6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based on subjects or goals.</a:t>
            </a:r>
          </a:p>
          <a:p>
            <a:pPr marL="0" lvl="0" indent="0" algn="l">
              <a:lnSpc>
                <a:spcPts val="5818"/>
              </a:lnSpc>
            </a:pPr>
            <a:r>
              <a:rPr lang="en-US" sz="4155" u="none" spc="7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Engage in </a:t>
            </a:r>
            <a:r>
              <a:rPr lang="en-US" sz="4155" b="1" u="none" spc="7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 virtual study rooms</a:t>
            </a:r>
            <a:r>
              <a:rPr lang="en-US" sz="4155" u="none" spc="7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video, chat, and whiteboards.</a:t>
            </a:r>
          </a:p>
          <a:p>
            <a:pPr marL="0" lvl="0" indent="0" algn="l">
              <a:lnSpc>
                <a:spcPts val="5818"/>
              </a:lnSpc>
            </a:pPr>
            <a:r>
              <a:rPr lang="en-US" sz="4155" u="none" spc="7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Find </a:t>
            </a:r>
            <a:r>
              <a:rPr lang="en-US" sz="4155" b="1" u="none" spc="7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peer tutors</a:t>
            </a:r>
            <a:r>
              <a:rPr lang="en-US" sz="4155" u="none" spc="7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 1-on-1 or group learning.</a:t>
            </a:r>
          </a:p>
          <a:p>
            <a:pPr marL="0" lvl="0" indent="0" algn="l">
              <a:lnSpc>
                <a:spcPts val="5818"/>
              </a:lnSpc>
            </a:pPr>
            <a:r>
              <a:rPr lang="en-US" sz="4155" u="none" spc="7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Track progress with </a:t>
            </a:r>
            <a:r>
              <a:rPr lang="en-US" sz="4155" b="1" u="none" spc="7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AI-powered study planners &amp; analytics</a:t>
            </a:r>
            <a:r>
              <a:rPr lang="en-US" sz="4155" u="none" spc="7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5818"/>
              </a:lnSpc>
            </a:pPr>
            <a:r>
              <a:rPr lang="en-US" sz="4155" u="none" spc="7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✔ Access</a:t>
            </a:r>
            <a:r>
              <a:rPr lang="en-US" sz="4155" b="1" u="none" spc="7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crowdsourced notes, quizzes, and resources.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7172"/>
            <a:ext cx="86637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Product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8169" y="2235247"/>
            <a:ext cx="18049831" cy="516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endParaRPr dirty="0"/>
          </a:p>
          <a:p>
            <a:pPr algn="just">
              <a:lnSpc>
                <a:spcPts val="5120"/>
              </a:lnSpc>
            </a:pP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3390" b="1" spc="30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Study Groups &amp; Forums—topic</a:t>
            </a: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-based communities for discussions.</a:t>
            </a:r>
          </a:p>
          <a:p>
            <a:pPr algn="just">
              <a:lnSpc>
                <a:spcPts val="5120"/>
              </a:lnSpc>
            </a:pP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3390" b="1" spc="30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Virtual Study Rooms</a:t>
            </a: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—Live sessions with screen-sharing &amp; collaboration tools.</a:t>
            </a:r>
          </a:p>
          <a:p>
            <a:pPr algn="just">
              <a:lnSpc>
                <a:spcPts val="5120"/>
              </a:lnSpc>
            </a:pP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3390" b="1" spc="30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Peer Tutoring Marketplace</a:t>
            </a: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—Students teach &amp; earn; others learn affordably.</a:t>
            </a:r>
          </a:p>
          <a:p>
            <a:pPr algn="just">
              <a:lnSpc>
                <a:spcPts val="5120"/>
              </a:lnSpc>
            </a:pPr>
            <a:r>
              <a:rPr lang="en-US" sz="3390" b="1" spc="30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Smart Study Planner</a:t>
            </a: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– AI schedules study sessions with accountability reminders.</a:t>
            </a:r>
          </a:p>
          <a:p>
            <a:pPr algn="just">
              <a:lnSpc>
                <a:spcPts val="5120"/>
              </a:lnSpc>
            </a:pP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3390" b="1" spc="30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Gamified Progress Tracking</a:t>
            </a:r>
            <a:r>
              <a:rPr lang="en-US" sz="3390" spc="30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—Badges, streaks, and leaderboards to motivate users.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00057" y="1596726"/>
            <a:ext cx="90827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4</a:t>
            </a:r>
            <a:r>
              <a:rPr lang="en-US" sz="8100" b="1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out 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00057" y="2907406"/>
            <a:ext cx="9082750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Students (High School, College, Grad School)</a:t>
            </a:r>
          </a:p>
          <a:p>
            <a:pPr algn="l">
              <a:lnSpc>
                <a:spcPts val="4479"/>
              </a:lnSpc>
            </a:pPr>
            <a:endParaRPr lang="en-US" sz="3199" b="1" dirty="0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00057" y="5014805"/>
            <a:ext cx="9082750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Tutors &amp; Educators (Monetizing knowledge)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100057" y="7056789"/>
            <a:ext cx="9082750" cy="2460665"/>
            <a:chOff x="0" y="0"/>
            <a:chExt cx="12110334" cy="3280887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2110334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75%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823985"/>
              <a:ext cx="12110334" cy="1456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Professionals (Upskilling/Certification Seekers)</a:t>
              </a:r>
            </a:p>
            <a:p>
              <a:pPr algn="l">
                <a:lnSpc>
                  <a:spcPts val="4479"/>
                </a:lnSpc>
              </a:pPr>
              <a:endParaRPr lang="en-US" sz="3199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43" y="3824074"/>
            <a:ext cx="3557482" cy="3557482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10" y="1903265"/>
            <a:ext cx="4576678" cy="1973541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8682" y="0"/>
            <a:ext cx="90827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086" y="657676"/>
            <a:ext cx="7957539" cy="796662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55703" y="2847062"/>
            <a:ext cx="9493118" cy="446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6066" lvl="1" indent="-368033" algn="l">
              <a:lnSpc>
                <a:spcPts val="5113"/>
              </a:lnSpc>
              <a:buFont typeface="Arial"/>
              <a:buChar char="•"/>
            </a:pPr>
            <a:r>
              <a:rPr lang="en-US" sz="340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Total Addressable Market</a:t>
            </a:r>
            <a:r>
              <a:rPr lang="en-US" sz="3409" b="1" u="none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(TAM): </a:t>
            </a:r>
            <a:r>
              <a:rPr lang="en-US" sz="3409" u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$10B+ Global e-learning market.</a:t>
            </a:r>
          </a:p>
          <a:p>
            <a:pPr marL="736066" lvl="1" indent="-368033" algn="l">
              <a:lnSpc>
                <a:spcPts val="5113"/>
              </a:lnSpc>
              <a:buFont typeface="Arial"/>
              <a:buChar char="•"/>
            </a:pPr>
            <a:r>
              <a:rPr lang="en-US" sz="3409" b="1" u="none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Serviceable Available Market (SAM):</a:t>
            </a:r>
            <a:r>
              <a:rPr lang="en-US" sz="3409" u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$2B Peer learning &amp; tutoring segment.</a:t>
            </a:r>
          </a:p>
          <a:p>
            <a:pPr marL="736066" lvl="1" indent="-368033" algn="l">
              <a:lnSpc>
                <a:spcPts val="5113"/>
              </a:lnSpc>
              <a:buFont typeface="Arial"/>
              <a:buChar char="•"/>
            </a:pPr>
            <a:r>
              <a:rPr lang="en-US" sz="3409" b="1" u="none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Serviceable Obtainable Market (SOM)</a:t>
            </a:r>
            <a:r>
              <a:rPr lang="en-US" sz="3409" u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: $200M Initial focus on US, Africa, UK learners.</a:t>
            </a:r>
          </a:p>
          <a:p>
            <a:pPr algn="l">
              <a:lnSpc>
                <a:spcPts val="4773"/>
              </a:lnSpc>
            </a:pPr>
            <a:endParaRPr lang="en-US" sz="3409" u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622869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Market Size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232622" y="259778"/>
            <a:ext cx="6812379" cy="8998522"/>
            <a:chOff x="0" y="0"/>
            <a:chExt cx="6438900" cy="85051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38900" cy="8505190"/>
            </a:xfrm>
            <a:custGeom>
              <a:avLst/>
              <a:gdLst/>
              <a:ahLst/>
              <a:cxnLst/>
              <a:rect l="l" t="t" r="r" b="b"/>
              <a:pathLst>
                <a:path w="6438900" h="8505190">
                  <a:moveTo>
                    <a:pt x="4916170" y="8505190"/>
                  </a:moveTo>
                  <a:lnTo>
                    <a:pt x="4627880" y="8505190"/>
                  </a:lnTo>
                  <a:lnTo>
                    <a:pt x="0" y="8072120"/>
                  </a:lnTo>
                  <a:lnTo>
                    <a:pt x="0" y="4405630"/>
                  </a:lnTo>
                  <a:lnTo>
                    <a:pt x="910590" y="0"/>
                  </a:lnTo>
                  <a:lnTo>
                    <a:pt x="6438900" y="0"/>
                  </a:lnTo>
                  <a:lnTo>
                    <a:pt x="6438900" y="671830"/>
                  </a:lnTo>
                  <a:lnTo>
                    <a:pt x="4916170" y="8505190"/>
                  </a:lnTo>
                  <a:close/>
                </a:path>
              </a:pathLst>
            </a:custGeom>
            <a:blipFill>
              <a:blip r:embed="rId2"/>
              <a:stretch>
                <a:fillRect l="-65869" r="-65869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438900" cy="8505190"/>
            </a:xfrm>
            <a:custGeom>
              <a:avLst/>
              <a:gdLst/>
              <a:ahLst/>
              <a:cxnLst/>
              <a:rect l="l" t="t" r="r" b="b"/>
              <a:pathLst>
                <a:path w="6438900" h="8505190">
                  <a:moveTo>
                    <a:pt x="910590" y="0"/>
                  </a:moveTo>
                  <a:lnTo>
                    <a:pt x="1898650" y="289560"/>
                  </a:lnTo>
                  <a:lnTo>
                    <a:pt x="0" y="4405630"/>
                  </a:lnTo>
                  <a:lnTo>
                    <a:pt x="910590" y="0"/>
                  </a:lnTo>
                  <a:close/>
                  <a:moveTo>
                    <a:pt x="3253740" y="8047990"/>
                  </a:moveTo>
                  <a:lnTo>
                    <a:pt x="4916170" y="8505190"/>
                  </a:lnTo>
                  <a:lnTo>
                    <a:pt x="6438900" y="671830"/>
                  </a:lnTo>
                  <a:lnTo>
                    <a:pt x="3253740" y="8047990"/>
                  </a:lnTo>
                  <a:close/>
                </a:path>
              </a:pathLst>
            </a:custGeom>
            <a:solidFill>
              <a:srgbClr val="0BB6BC"/>
            </a:solidFill>
          </p:spPr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045002" y="1665115"/>
          <a:ext cx="10804241" cy="7062798"/>
        </p:xfrm>
        <a:graphic>
          <a:graphicData uri="http://schemas.openxmlformats.org/drawingml/2006/table">
            <a:tbl>
              <a:tblPr/>
              <a:tblGrid>
                <a:gridCol w="3796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2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69463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Competitors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What They Offer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Gap Learn 2gether Fills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486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Tuteria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One-on-one tutor matching; in-person and online sessions; Nigeria-focused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Limited to Nigeria; Larn2gether can scale regionally and support broader peer collaboration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25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Instill Education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Teacher training platform for African educators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Not student-facing; Larn2gether provides student empowerment and learning autonomy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759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Digemy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Corporate gamified training and analytics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Not academic; Larn2gether addresses student tutoring and social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8508761" y="257175"/>
            <a:ext cx="8750539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Competitors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105725" y="1028700"/>
            <a:ext cx="13944632" cy="1985652"/>
            <a:chOff x="0" y="0"/>
            <a:chExt cx="18592843" cy="2647536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8592843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>
                  <a:solidFill>
                    <a:srgbClr val="0BB6BC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Competitive Advantage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39934"/>
              <a:ext cx="16429858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05725" y="2727119"/>
            <a:ext cx="5580441" cy="2151133"/>
            <a:chOff x="0" y="0"/>
            <a:chExt cx="7440588" cy="28681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40588" cy="2766577"/>
            </a:xfrm>
            <a:custGeom>
              <a:avLst/>
              <a:gdLst/>
              <a:ahLst/>
              <a:cxnLst/>
              <a:rect l="l" t="t" r="r" b="b"/>
              <a:pathLst>
                <a:path w="7440588" h="2766577">
                  <a:moveTo>
                    <a:pt x="0" y="0"/>
                  </a:moveTo>
                  <a:lnTo>
                    <a:pt x="7440588" y="0"/>
                  </a:lnTo>
                  <a:lnTo>
                    <a:pt x="7440588" y="2766577"/>
                  </a:lnTo>
                  <a:lnTo>
                    <a:pt x="0" y="27665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440588" cy="2868177"/>
            </a:xfrm>
            <a:custGeom>
              <a:avLst/>
              <a:gdLst/>
              <a:ahLst/>
              <a:cxnLst/>
              <a:rect l="l" t="t" r="r" b="b"/>
              <a:pathLst>
                <a:path w="7440588" h="2868177">
                  <a:moveTo>
                    <a:pt x="0" y="2766577"/>
                  </a:moveTo>
                  <a:lnTo>
                    <a:pt x="7440588" y="2766577"/>
                  </a:lnTo>
                  <a:lnTo>
                    <a:pt x="7313588" y="2868177"/>
                  </a:lnTo>
                  <a:cubicBezTo>
                    <a:pt x="7313588" y="2868177"/>
                    <a:pt x="6322988" y="2791977"/>
                    <a:pt x="6221388" y="2791977"/>
                  </a:cubicBezTo>
                  <a:lnTo>
                    <a:pt x="1219200" y="2791977"/>
                  </a:lnTo>
                  <a:cubicBezTo>
                    <a:pt x="1117600" y="2791977"/>
                    <a:pt x="127000" y="2868177"/>
                    <a:pt x="127000" y="2868177"/>
                  </a:cubicBezTo>
                  <a:lnTo>
                    <a:pt x="0" y="2766577"/>
                  </a:lnTo>
                  <a:lnTo>
                    <a:pt x="0" y="0"/>
                  </a:lnTo>
                  <a:lnTo>
                    <a:pt x="7440588" y="0"/>
                  </a:lnTo>
                  <a:lnTo>
                    <a:pt x="7440588" y="2766577"/>
                  </a:lnTo>
                  <a:lnTo>
                    <a:pt x="12700" y="2766577"/>
                  </a:lnTo>
                  <a:lnTo>
                    <a:pt x="12700" y="2753877"/>
                  </a:lnTo>
                  <a:lnTo>
                    <a:pt x="7427888" y="2753877"/>
                  </a:lnTo>
                  <a:lnTo>
                    <a:pt x="7427888" y="12700"/>
                  </a:lnTo>
                  <a:lnTo>
                    <a:pt x="12700" y="12700"/>
                  </a:lnTo>
                  <a:lnTo>
                    <a:pt x="12700" y="2766577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7440588" cy="2814202"/>
            </a:xfrm>
            <a:prstGeom prst="rect">
              <a:avLst/>
            </a:prstGeom>
          </p:spPr>
          <p:txBody>
            <a:bodyPr lIns="203200" tIns="203200" rIns="203200" bIns="203200" rtlCol="0" anchor="t"/>
            <a:lstStyle/>
            <a:p>
              <a:pPr algn="l">
                <a:lnSpc>
                  <a:spcPts val="4339"/>
                </a:lnSpc>
              </a:pPr>
              <a:r>
                <a:rPr lang="en-US" sz="30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Build for Learning </a:t>
              </a:r>
              <a:r>
                <a:rPr lang="en-US" sz="3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Not just communication, but structured study tools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224636" y="2727119"/>
            <a:ext cx="5580441" cy="2151133"/>
            <a:chOff x="0" y="0"/>
            <a:chExt cx="7440588" cy="28681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40588" cy="2766577"/>
            </a:xfrm>
            <a:custGeom>
              <a:avLst/>
              <a:gdLst/>
              <a:ahLst/>
              <a:cxnLst/>
              <a:rect l="l" t="t" r="r" b="b"/>
              <a:pathLst>
                <a:path w="7440588" h="2766577">
                  <a:moveTo>
                    <a:pt x="0" y="0"/>
                  </a:moveTo>
                  <a:lnTo>
                    <a:pt x="7440588" y="0"/>
                  </a:lnTo>
                  <a:lnTo>
                    <a:pt x="7440588" y="2766577"/>
                  </a:lnTo>
                  <a:lnTo>
                    <a:pt x="0" y="27665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440588" cy="2868177"/>
            </a:xfrm>
            <a:custGeom>
              <a:avLst/>
              <a:gdLst/>
              <a:ahLst/>
              <a:cxnLst/>
              <a:rect l="l" t="t" r="r" b="b"/>
              <a:pathLst>
                <a:path w="7440588" h="2868177">
                  <a:moveTo>
                    <a:pt x="0" y="2766577"/>
                  </a:moveTo>
                  <a:lnTo>
                    <a:pt x="7440588" y="2766577"/>
                  </a:lnTo>
                  <a:lnTo>
                    <a:pt x="7313588" y="2868177"/>
                  </a:lnTo>
                  <a:cubicBezTo>
                    <a:pt x="7313588" y="2868177"/>
                    <a:pt x="6322988" y="2791977"/>
                    <a:pt x="6221388" y="2791977"/>
                  </a:cubicBezTo>
                  <a:lnTo>
                    <a:pt x="1219200" y="2791977"/>
                  </a:lnTo>
                  <a:cubicBezTo>
                    <a:pt x="1117600" y="2791977"/>
                    <a:pt x="127000" y="2868177"/>
                    <a:pt x="127000" y="2868177"/>
                  </a:cubicBezTo>
                  <a:lnTo>
                    <a:pt x="0" y="2766577"/>
                  </a:lnTo>
                  <a:lnTo>
                    <a:pt x="0" y="0"/>
                  </a:lnTo>
                  <a:lnTo>
                    <a:pt x="7440588" y="0"/>
                  </a:lnTo>
                  <a:lnTo>
                    <a:pt x="7440588" y="2766577"/>
                  </a:lnTo>
                  <a:lnTo>
                    <a:pt x="12700" y="2766577"/>
                  </a:lnTo>
                  <a:lnTo>
                    <a:pt x="12700" y="2753877"/>
                  </a:lnTo>
                  <a:lnTo>
                    <a:pt x="7427888" y="2753877"/>
                  </a:lnTo>
                  <a:lnTo>
                    <a:pt x="7427888" y="12700"/>
                  </a:lnTo>
                  <a:lnTo>
                    <a:pt x="12700" y="12700"/>
                  </a:lnTo>
                  <a:lnTo>
                    <a:pt x="12700" y="2766577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440588" cy="2814202"/>
            </a:xfrm>
            <a:prstGeom prst="rect">
              <a:avLst/>
            </a:prstGeom>
          </p:spPr>
          <p:txBody>
            <a:bodyPr lIns="203200" tIns="203200" rIns="203200" bIns="203200" rtlCol="0" anchor="t"/>
            <a:lstStyle/>
            <a:p>
              <a:pPr algn="l">
                <a:lnSpc>
                  <a:spcPts val="4339"/>
                </a:lnSpc>
              </a:pPr>
              <a:r>
                <a:rPr lang="en-US" sz="30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Peer Tutoring Economy </a:t>
              </a:r>
              <a:r>
                <a:rPr lang="en-US" sz="3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Students earn while helping others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224636" y="6233829"/>
            <a:ext cx="5580441" cy="2151133"/>
            <a:chOff x="0" y="0"/>
            <a:chExt cx="7440588" cy="28681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40588" cy="2766577"/>
            </a:xfrm>
            <a:custGeom>
              <a:avLst/>
              <a:gdLst/>
              <a:ahLst/>
              <a:cxnLst/>
              <a:rect l="l" t="t" r="r" b="b"/>
              <a:pathLst>
                <a:path w="7440588" h="2766577">
                  <a:moveTo>
                    <a:pt x="0" y="0"/>
                  </a:moveTo>
                  <a:lnTo>
                    <a:pt x="7440588" y="0"/>
                  </a:lnTo>
                  <a:lnTo>
                    <a:pt x="7440588" y="2766577"/>
                  </a:lnTo>
                  <a:lnTo>
                    <a:pt x="0" y="27665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440588" cy="2868177"/>
            </a:xfrm>
            <a:custGeom>
              <a:avLst/>
              <a:gdLst/>
              <a:ahLst/>
              <a:cxnLst/>
              <a:rect l="l" t="t" r="r" b="b"/>
              <a:pathLst>
                <a:path w="7440588" h="2868177">
                  <a:moveTo>
                    <a:pt x="0" y="2766577"/>
                  </a:moveTo>
                  <a:lnTo>
                    <a:pt x="7440588" y="2766577"/>
                  </a:lnTo>
                  <a:lnTo>
                    <a:pt x="7313588" y="2868177"/>
                  </a:lnTo>
                  <a:cubicBezTo>
                    <a:pt x="7313588" y="2868177"/>
                    <a:pt x="6322988" y="2791977"/>
                    <a:pt x="6221388" y="2791977"/>
                  </a:cubicBezTo>
                  <a:lnTo>
                    <a:pt x="1219200" y="2791977"/>
                  </a:lnTo>
                  <a:cubicBezTo>
                    <a:pt x="1117600" y="2791977"/>
                    <a:pt x="127000" y="2868177"/>
                    <a:pt x="127000" y="2868177"/>
                  </a:cubicBezTo>
                  <a:lnTo>
                    <a:pt x="0" y="2766577"/>
                  </a:lnTo>
                  <a:lnTo>
                    <a:pt x="0" y="0"/>
                  </a:lnTo>
                  <a:lnTo>
                    <a:pt x="7440588" y="0"/>
                  </a:lnTo>
                  <a:lnTo>
                    <a:pt x="7440588" y="2766577"/>
                  </a:lnTo>
                  <a:lnTo>
                    <a:pt x="12700" y="2766577"/>
                  </a:lnTo>
                  <a:lnTo>
                    <a:pt x="12700" y="2753877"/>
                  </a:lnTo>
                  <a:lnTo>
                    <a:pt x="7427888" y="2753877"/>
                  </a:lnTo>
                  <a:lnTo>
                    <a:pt x="7427888" y="12700"/>
                  </a:lnTo>
                  <a:lnTo>
                    <a:pt x="12700" y="12700"/>
                  </a:lnTo>
                  <a:lnTo>
                    <a:pt x="12700" y="2766577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440588" cy="2814202"/>
            </a:xfrm>
            <a:prstGeom prst="rect">
              <a:avLst/>
            </a:prstGeom>
          </p:spPr>
          <p:txBody>
            <a:bodyPr lIns="203200" tIns="203200" rIns="203200" bIns="203200" rtlCol="0" anchor="t"/>
            <a:lstStyle/>
            <a:p>
              <a:pPr algn="l">
                <a:lnSpc>
                  <a:spcPts val="4339"/>
                </a:lnSpc>
              </a:pPr>
              <a:r>
                <a:rPr lang="en-US" sz="30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Gamification - </a:t>
              </a:r>
              <a:r>
                <a:rPr lang="en-US" sz="3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Motivates consistent learning habits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05725" y="6233829"/>
            <a:ext cx="5580441" cy="2616406"/>
            <a:chOff x="0" y="0"/>
            <a:chExt cx="7440588" cy="34885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440588" cy="3386942"/>
            </a:xfrm>
            <a:custGeom>
              <a:avLst/>
              <a:gdLst/>
              <a:ahLst/>
              <a:cxnLst/>
              <a:rect l="l" t="t" r="r" b="b"/>
              <a:pathLst>
                <a:path w="7440588" h="3386942">
                  <a:moveTo>
                    <a:pt x="0" y="0"/>
                  </a:moveTo>
                  <a:lnTo>
                    <a:pt x="7440588" y="0"/>
                  </a:lnTo>
                  <a:lnTo>
                    <a:pt x="7440588" y="3386942"/>
                  </a:lnTo>
                  <a:lnTo>
                    <a:pt x="0" y="33869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7440588" cy="3488542"/>
            </a:xfrm>
            <a:custGeom>
              <a:avLst/>
              <a:gdLst/>
              <a:ahLst/>
              <a:cxnLst/>
              <a:rect l="l" t="t" r="r" b="b"/>
              <a:pathLst>
                <a:path w="7440588" h="3488542">
                  <a:moveTo>
                    <a:pt x="0" y="3386942"/>
                  </a:moveTo>
                  <a:lnTo>
                    <a:pt x="7440588" y="3386942"/>
                  </a:lnTo>
                  <a:lnTo>
                    <a:pt x="7313588" y="3488542"/>
                  </a:lnTo>
                  <a:cubicBezTo>
                    <a:pt x="7313588" y="3488542"/>
                    <a:pt x="6322988" y="3412342"/>
                    <a:pt x="6221388" y="3412342"/>
                  </a:cubicBezTo>
                  <a:lnTo>
                    <a:pt x="1219200" y="3412342"/>
                  </a:lnTo>
                  <a:cubicBezTo>
                    <a:pt x="1117600" y="3412342"/>
                    <a:pt x="127000" y="3488542"/>
                    <a:pt x="127000" y="3488542"/>
                  </a:cubicBezTo>
                  <a:lnTo>
                    <a:pt x="0" y="3386942"/>
                  </a:lnTo>
                  <a:lnTo>
                    <a:pt x="0" y="0"/>
                  </a:lnTo>
                  <a:lnTo>
                    <a:pt x="7440588" y="0"/>
                  </a:lnTo>
                  <a:lnTo>
                    <a:pt x="7440588" y="3386942"/>
                  </a:lnTo>
                  <a:lnTo>
                    <a:pt x="12700" y="3386942"/>
                  </a:lnTo>
                  <a:lnTo>
                    <a:pt x="12700" y="3374242"/>
                  </a:lnTo>
                  <a:lnTo>
                    <a:pt x="7427888" y="3374242"/>
                  </a:lnTo>
                  <a:lnTo>
                    <a:pt x="7427888" y="12700"/>
                  </a:lnTo>
                  <a:lnTo>
                    <a:pt x="12700" y="12700"/>
                  </a:lnTo>
                  <a:lnTo>
                    <a:pt x="12700" y="338694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7440588" cy="3434567"/>
            </a:xfrm>
            <a:prstGeom prst="rect">
              <a:avLst/>
            </a:prstGeom>
          </p:spPr>
          <p:txBody>
            <a:bodyPr lIns="203200" tIns="203200" rIns="203200" bIns="203200" rtlCol="0" anchor="t"/>
            <a:lstStyle/>
            <a:p>
              <a:pPr algn="l">
                <a:lnSpc>
                  <a:spcPts val="4339"/>
                </a:lnSpc>
              </a:pPr>
              <a:r>
                <a:rPr lang="en-US" sz="30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AI-Powered Accountability </a:t>
              </a:r>
            </a:p>
            <a:p>
              <a:pPr marL="669281" lvl="1" indent="-334641" algn="l">
                <a:lnSpc>
                  <a:spcPts val="4339"/>
                </a:lnSpc>
                <a:buFont typeface="Arial"/>
                <a:buChar char="•"/>
              </a:pPr>
              <a:r>
                <a:rPr lang="en-US" sz="30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3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Smart reminders </a:t>
              </a:r>
            </a:p>
            <a:p>
              <a:pPr marL="669281" lvl="1" indent="-334641" algn="l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Progress tracking</a:t>
              </a:r>
            </a:p>
            <a:p>
              <a:pPr algn="l">
                <a:lnSpc>
                  <a:spcPts val="4339"/>
                </a:lnSpc>
              </a:pPr>
              <a:endPara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1703359" y="7072540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703359" y="3357575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629625" y="7608678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AutoShape 9"/>
          <p:cNvSpPr/>
          <p:nvPr/>
        </p:nvSpPr>
        <p:spPr>
          <a:xfrm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Box 10"/>
          <p:cNvSpPr txBox="1"/>
          <p:nvPr/>
        </p:nvSpPr>
        <p:spPr>
          <a:xfrm>
            <a:off x="6877433" y="2425740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June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43601" y="2425740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July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Box 13"/>
          <p:cNvSpPr txBox="1"/>
          <p:nvPr/>
        </p:nvSpPr>
        <p:spPr>
          <a:xfrm>
            <a:off x="10973596" y="2425740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Aug 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AutoShape 15"/>
          <p:cNvSpPr/>
          <p:nvPr/>
        </p:nvSpPr>
        <p:spPr>
          <a:xfrm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Box 16"/>
          <p:cNvSpPr txBox="1"/>
          <p:nvPr/>
        </p:nvSpPr>
        <p:spPr>
          <a:xfrm>
            <a:off x="12913115" y="2425740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Sep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36191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Oct - Nov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68802" y="2696086"/>
            <a:ext cx="437069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7743" y="3419744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Conducr Market Research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7743" y="4022985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Define Product 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97743" y="4626226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MVP Development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97743" y="5229466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10 000 Waitlidting Signups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7743" y="5832707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University Partnerships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7743" y="6435948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Monetization Testing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97743" y="7039189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Global Expansion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673184" y="3669622"/>
            <a:ext cx="1972820" cy="0"/>
          </a:xfrm>
          <a:prstGeom prst="line">
            <a:avLst/>
          </a:prstGeom>
          <a:ln w="485775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7659594" y="4027543"/>
            <a:ext cx="2972328" cy="0"/>
          </a:xfrm>
          <a:prstGeom prst="line">
            <a:avLst/>
          </a:prstGeom>
          <a:ln w="485775" cap="flat">
            <a:solidFill>
              <a:srgbClr val="0BB6B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7659594" y="4603308"/>
            <a:ext cx="2012985" cy="0"/>
          </a:xfrm>
          <a:prstGeom prst="line">
            <a:avLst/>
          </a:prstGeom>
          <a:ln w="485775" cap="flat">
            <a:solidFill>
              <a:srgbClr val="FF66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12631287" y="6402324"/>
            <a:ext cx="2962913" cy="0"/>
          </a:xfrm>
          <a:prstGeom prst="line">
            <a:avLst/>
          </a:prstGeom>
          <a:ln w="485775" cap="flat">
            <a:solidFill>
              <a:srgbClr val="0831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4603759" y="6996645"/>
            <a:ext cx="1980882" cy="0"/>
          </a:xfrm>
          <a:prstGeom prst="line">
            <a:avLst/>
          </a:prstGeom>
          <a:ln w="485775" cap="flat">
            <a:solidFill>
              <a:srgbClr val="CF6E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10645368" y="5214576"/>
            <a:ext cx="3966801" cy="0"/>
          </a:xfrm>
          <a:prstGeom prst="line">
            <a:avLst/>
          </a:prstGeom>
          <a:ln w="485775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9672578" y="5809789"/>
            <a:ext cx="3944944" cy="0"/>
          </a:xfrm>
          <a:prstGeom prst="line">
            <a:avLst/>
          </a:prstGeom>
          <a:ln w="48577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1703359" y="343008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Project Traction</a:t>
            </a:r>
          </a:p>
        </p:txBody>
      </p:sp>
      <p:sp>
        <p:nvSpPr>
          <p:cNvPr id="34" name="AutoShape 34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5" name="TextBox 35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09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13736" y="2694518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939189" y="2769644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1-2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89097" y="2769644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2 -3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055990" y="2769644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Week 2 -5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341197" cy="10287000"/>
            <a:chOff x="0" y="0"/>
            <a:chExt cx="12454930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454930" cy="13716000"/>
            </a:xfrm>
            <a:prstGeom prst="rect">
              <a:avLst/>
            </a:prstGeom>
            <a:solidFill>
              <a:srgbClr val="0BB6BC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028700" y="2583708"/>
            <a:ext cx="6200420" cy="6200420"/>
          </a:xfrm>
          <a:custGeom>
            <a:avLst/>
            <a:gdLst/>
            <a:ahLst/>
            <a:cxnLst/>
            <a:rect l="l" t="t" r="r" b="b"/>
            <a:pathLst>
              <a:path w="6200420" h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04813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Business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-12264"/>
            <a:ext cx="9144000" cy="930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988" b="1" spc="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Subscription-Based Model</a:t>
            </a:r>
          </a:p>
          <a:p>
            <a:pPr marL="623665" lvl="1" indent="-311833" algn="l">
              <a:lnSpc>
                <a:spcPts val="3408"/>
              </a:lnSpc>
              <a:buFont typeface="Arial"/>
              <a:buChar char="•"/>
            </a:pPr>
            <a:r>
              <a:rPr lang="en-US" sz="2888" b="1" spc="8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Basic Plan</a:t>
            </a:r>
            <a:r>
              <a:rPr lang="en-US" sz="2888" spc="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Free for the first trial</a:t>
            </a:r>
          </a:p>
          <a:p>
            <a:pPr marL="623665" lvl="1" indent="-311833" algn="l">
              <a:lnSpc>
                <a:spcPts val="3408"/>
              </a:lnSpc>
              <a:buFont typeface="Arial"/>
              <a:buChar char="•"/>
            </a:pPr>
            <a:r>
              <a:rPr lang="en-US" sz="2888" b="1" spc="8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Plan</a:t>
            </a:r>
            <a:r>
              <a:rPr lang="en-US" sz="2888" spc="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$4/month per student</a:t>
            </a:r>
          </a:p>
          <a:p>
            <a:pPr marL="623665" lvl="1" indent="-311833" algn="l">
              <a:lnSpc>
                <a:spcPts val="3408"/>
              </a:lnSpc>
              <a:buFont typeface="Arial"/>
              <a:buChar char="•"/>
            </a:pPr>
            <a:r>
              <a:rPr lang="en-US" sz="2888" b="1" spc="8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Institutional Plan</a:t>
            </a:r>
            <a:r>
              <a:rPr lang="en-US" sz="2888" spc="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$100/month per institution</a:t>
            </a:r>
          </a:p>
          <a:p>
            <a:pPr marL="623665" lvl="1" indent="-311833" algn="l">
              <a:lnSpc>
                <a:spcPts val="3408"/>
              </a:lnSpc>
              <a:buFont typeface="Arial"/>
              <a:buChar char="•"/>
            </a:pPr>
            <a:r>
              <a:rPr lang="en-US" sz="2888" b="1" spc="8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Tutor Commission</a:t>
            </a:r>
            <a:r>
              <a:rPr lang="en-US" sz="2888" spc="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10% fee per 2 sessions )</a:t>
            </a:r>
          </a:p>
          <a:p>
            <a:pPr algn="l">
              <a:lnSpc>
                <a:spcPts val="3408"/>
              </a:lnSpc>
            </a:pPr>
            <a:endParaRPr lang="en-US" sz="2888" spc="8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Profit Margin</a:t>
            </a: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Targeted Revenue:</a:t>
            </a: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1,000 students × $4/month × 12 months =</a:t>
            </a: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$48,000</a:t>
            </a: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institutions × $100/month × 12 months =</a:t>
            </a: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$12,000</a:t>
            </a:r>
          </a:p>
          <a:p>
            <a:pPr algn="l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$2000/month x 12 months = $24,000/year</a:t>
            </a:r>
          </a:p>
          <a:p>
            <a:pPr algn="l">
              <a:lnSpc>
                <a:spcPts val="4184"/>
              </a:lnSpc>
            </a:pPr>
            <a:endParaRPr lang="en-US" sz="2988" spc="8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$48,000 + $12,000 + $24,000 = $84,000</a:t>
            </a:r>
          </a:p>
          <a:p>
            <a:pPr algn="ctr">
              <a:lnSpc>
                <a:spcPts val="4184"/>
              </a:lnSpc>
            </a:pPr>
            <a:endParaRPr lang="en-US" sz="2988" spc="8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84"/>
              </a:lnSpc>
            </a:pPr>
            <a:r>
              <a:rPr lang="en-US" sz="2988" spc="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Profit = $84,000 - $20,000 = $64,000</a:t>
            </a:r>
          </a:p>
          <a:p>
            <a:pPr algn="ctr">
              <a:lnSpc>
                <a:spcPts val="3611"/>
              </a:lnSpc>
            </a:pPr>
            <a:r>
              <a:rPr lang="en-US" sz="25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Profit Margin = ($84,000 / $20,000) × 100 = 76,2%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63501" y="2121092"/>
            <a:ext cx="12452056" cy="715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1"/>
              </a:lnSpc>
            </a:pPr>
            <a:r>
              <a:rPr lang="en-US" sz="2725" b="1" spc="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</a:t>
            </a:r>
            <a:r>
              <a:rPr lang="en-US" sz="2725" spc="1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University partnerships (Student orgs, educators).</a:t>
            </a:r>
          </a:p>
          <a:p>
            <a:pPr algn="l">
              <a:lnSpc>
                <a:spcPts val="6051"/>
              </a:lnSpc>
            </a:pPr>
            <a:r>
              <a:rPr lang="en-US" sz="2725" b="1" spc="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</a:t>
            </a:r>
            <a:r>
              <a:rPr lang="en-US" sz="2725" spc="1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Social media and influencer marketing (TikTok, Instagram).</a:t>
            </a:r>
          </a:p>
          <a:p>
            <a:pPr algn="l">
              <a:lnSpc>
                <a:spcPts val="6051"/>
              </a:lnSpc>
            </a:pPr>
            <a:r>
              <a:rPr lang="en-US" sz="2725" b="1" spc="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</a:t>
            </a:r>
            <a:r>
              <a:rPr lang="en-US" sz="2725" spc="1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SEO and referral programmers (invite friends, get rewards).</a:t>
            </a:r>
          </a:p>
          <a:p>
            <a:pPr algn="l">
              <a:lnSpc>
                <a:spcPts val="2423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419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10"/>
              </a:lnSpc>
            </a:pPr>
            <a:endParaRPr lang="en-US" sz="2725" spc="17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82668" y="667172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Go To Market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76755" y="2579698"/>
            <a:ext cx="15352141" cy="7519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1"/>
              </a:lnSpc>
            </a:pPr>
            <a:r>
              <a:rPr lang="en-US" sz="358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 4: Quality Education</a:t>
            </a:r>
          </a:p>
          <a:p>
            <a:pPr marL="774330" lvl="1" indent="-387165" algn="l">
              <a:lnSpc>
                <a:spcPts val="5021"/>
              </a:lnSpc>
              <a:buFont typeface="Arial"/>
              <a:buChar char="•"/>
            </a:pPr>
            <a:r>
              <a:rPr lang="en-US" sz="35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accessible, affordable peer learning for students.</a:t>
            </a:r>
          </a:p>
          <a:p>
            <a:pPr algn="l">
              <a:lnSpc>
                <a:spcPts val="5021"/>
              </a:lnSpc>
            </a:pPr>
            <a:r>
              <a:rPr lang="en-US" sz="358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 5: Gender Equality</a:t>
            </a:r>
          </a:p>
          <a:p>
            <a:pPr marL="774330" lvl="1" indent="-387165" algn="l">
              <a:lnSpc>
                <a:spcPts val="5021"/>
              </a:lnSpc>
              <a:buFont typeface="Arial"/>
              <a:buChar char="•"/>
            </a:pPr>
            <a:r>
              <a:rPr lang="en-US" sz="35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Encourage female participation in STEM and leadership via study groups.</a:t>
            </a:r>
          </a:p>
          <a:p>
            <a:pPr algn="l">
              <a:lnSpc>
                <a:spcPts val="5021"/>
              </a:lnSpc>
            </a:pPr>
            <a:r>
              <a:rPr lang="en-US" sz="358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 8: Decent Work and Economic Growth</a:t>
            </a:r>
          </a:p>
          <a:p>
            <a:pPr marL="774330" lvl="1" indent="-387165" algn="l">
              <a:lnSpc>
                <a:spcPts val="5021"/>
              </a:lnSpc>
              <a:buFont typeface="Arial"/>
              <a:buChar char="•"/>
            </a:pPr>
            <a:r>
              <a:rPr lang="en-US" sz="35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Empowers tutors, especially students and unemployed youth, to earn an income.</a:t>
            </a:r>
          </a:p>
          <a:p>
            <a:pPr algn="l">
              <a:lnSpc>
                <a:spcPts val="5021"/>
              </a:lnSpc>
            </a:pPr>
            <a:r>
              <a:rPr lang="en-US" sz="358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 10: Reduced Inequalities</a:t>
            </a:r>
          </a:p>
          <a:p>
            <a:pPr marL="774330" lvl="1" indent="-387165" algn="l">
              <a:lnSpc>
                <a:spcPts val="5021"/>
              </a:lnSpc>
              <a:buFont typeface="Arial"/>
              <a:buChar char="•"/>
            </a:pPr>
            <a:r>
              <a:rPr lang="en-US" sz="35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rural and low-income students with offline features.</a:t>
            </a:r>
          </a:p>
          <a:p>
            <a:pPr algn="l">
              <a:lnSpc>
                <a:spcPts val="5021"/>
              </a:lnSpc>
            </a:pPr>
            <a:endParaRPr lang="en-US" sz="358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021"/>
              </a:lnSpc>
            </a:pPr>
            <a:endParaRPr lang="en-US" sz="358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82668" y="667172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Social Impact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5012" y="2061611"/>
            <a:ext cx="14180848" cy="767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9"/>
              </a:lnSpc>
            </a:pPr>
            <a:r>
              <a:rPr lang="en-US" sz="4366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💡 </a:t>
            </a:r>
            <a:r>
              <a:rPr lang="en-US" sz="4366" b="1" spc="2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Seeking $500K Seed Funding</a:t>
            </a:r>
          </a:p>
          <a:p>
            <a:pPr marL="942659" lvl="1" indent="-471330" algn="just">
              <a:lnSpc>
                <a:spcPts val="6549"/>
              </a:lnSpc>
              <a:buFont typeface="Arial"/>
              <a:buChar char="•"/>
            </a:pPr>
            <a:r>
              <a:rPr lang="en-US" sz="4366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60% Product Development</a:t>
            </a:r>
          </a:p>
          <a:p>
            <a:pPr marL="942659" lvl="1" indent="-471330" algn="just">
              <a:lnSpc>
                <a:spcPts val="6549"/>
              </a:lnSpc>
              <a:buFont typeface="Arial"/>
              <a:buChar char="•"/>
            </a:pPr>
            <a:r>
              <a:rPr lang="en-US" sz="4366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20% Marketing &amp; User Acquisition</a:t>
            </a:r>
          </a:p>
          <a:p>
            <a:pPr marL="942659" lvl="1" indent="-471330" algn="just">
              <a:lnSpc>
                <a:spcPts val="6549"/>
              </a:lnSpc>
              <a:buFont typeface="Arial"/>
              <a:buChar char="•"/>
            </a:pPr>
            <a:r>
              <a:rPr lang="en-US" sz="4366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10% Operations</a:t>
            </a:r>
          </a:p>
          <a:p>
            <a:pPr marL="942659" lvl="1" indent="-471330" algn="just">
              <a:lnSpc>
                <a:spcPts val="6549"/>
              </a:lnSpc>
              <a:buFont typeface="Arial"/>
              <a:buChar char="•"/>
            </a:pPr>
            <a:r>
              <a:rPr lang="en-US" sz="4366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10% Team Expansion</a:t>
            </a:r>
          </a:p>
          <a:p>
            <a:pPr algn="l">
              <a:lnSpc>
                <a:spcPts val="6549"/>
              </a:lnSpc>
            </a:pPr>
            <a:r>
              <a:rPr lang="en-US" sz="4366" b="1" spc="2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   Expected Milestones:</a:t>
            </a:r>
          </a:p>
          <a:p>
            <a:pPr marL="942659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50K users in 12 months</a:t>
            </a:r>
          </a:p>
          <a:p>
            <a:pPr marL="942659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Monetization by Q3 2025</a:t>
            </a:r>
          </a:p>
          <a:p>
            <a:pPr algn="l">
              <a:lnSpc>
                <a:spcPts val="8739"/>
              </a:lnSpc>
            </a:pPr>
            <a:endParaRPr lang="en-US" sz="4366" spc="2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657822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Ask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27184" y="5010959"/>
            <a:ext cx="2794583" cy="2985122"/>
          </a:xfrm>
          <a:custGeom>
            <a:avLst/>
            <a:gdLst/>
            <a:ahLst/>
            <a:cxnLst/>
            <a:rect l="l" t="t" r="r" b="b"/>
            <a:pathLst>
              <a:path w="2794583" h="2985122">
                <a:moveTo>
                  <a:pt x="0" y="0"/>
                </a:moveTo>
                <a:lnTo>
                  <a:pt x="2794583" y="0"/>
                </a:lnTo>
                <a:lnTo>
                  <a:pt x="2794583" y="2985122"/>
                </a:lnTo>
                <a:lnTo>
                  <a:pt x="0" y="2985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69792" y="5010959"/>
            <a:ext cx="2827444" cy="2985122"/>
          </a:xfrm>
          <a:custGeom>
            <a:avLst/>
            <a:gdLst/>
            <a:ahLst/>
            <a:cxnLst/>
            <a:rect l="l" t="t" r="r" b="b"/>
            <a:pathLst>
              <a:path w="2827444" h="2985122">
                <a:moveTo>
                  <a:pt x="0" y="0"/>
                </a:moveTo>
                <a:lnTo>
                  <a:pt x="2827444" y="0"/>
                </a:lnTo>
                <a:lnTo>
                  <a:pt x="2827444" y="2985122"/>
                </a:lnTo>
                <a:lnTo>
                  <a:pt x="0" y="2985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867" r="-1086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39702" y="5010959"/>
            <a:ext cx="3159091" cy="2985122"/>
          </a:xfrm>
          <a:custGeom>
            <a:avLst/>
            <a:gdLst/>
            <a:ahLst/>
            <a:cxnLst/>
            <a:rect l="l" t="t" r="r" b="b"/>
            <a:pathLst>
              <a:path w="3159091" h="2985122">
                <a:moveTo>
                  <a:pt x="0" y="0"/>
                </a:moveTo>
                <a:lnTo>
                  <a:pt x="3159091" y="0"/>
                </a:lnTo>
                <a:lnTo>
                  <a:pt x="3159091" y="2985122"/>
                </a:lnTo>
                <a:lnTo>
                  <a:pt x="0" y="2985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270" r="-11270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05725" y="1028700"/>
            <a:ext cx="13944632" cy="1985652"/>
            <a:chOff x="0" y="0"/>
            <a:chExt cx="18592843" cy="2647536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18592843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u="none" dirty="0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Team Members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39934"/>
              <a:ext cx="16429858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09612" y="8218199"/>
            <a:ext cx="2429727" cy="986805"/>
            <a:chOff x="0" y="0"/>
            <a:chExt cx="3239636" cy="131574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0"/>
              <a:ext cx="3239636" cy="50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00"/>
                </a:lnSpc>
              </a:pPr>
              <a:r>
                <a:rPr lang="en-US" sz="2500" b="1">
                  <a:solidFill>
                    <a:srgbClr val="90113E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THEBE LIYABINA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15030"/>
              <a:ext cx="3239636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Technical Lead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39702" y="8218199"/>
            <a:ext cx="2429727" cy="1415430"/>
            <a:chOff x="0" y="0"/>
            <a:chExt cx="3239636" cy="188724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3239636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40"/>
                </a:lnSpc>
              </a:pPr>
              <a:r>
                <a:rPr lang="en-US" sz="2200" b="1">
                  <a:solidFill>
                    <a:srgbClr val="90113E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NZIPO SIYABONGA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51530"/>
              <a:ext cx="3239636" cy="1235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Project Coordinator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69792" y="8218199"/>
            <a:ext cx="2429727" cy="1463055"/>
            <a:chOff x="0" y="0"/>
            <a:chExt cx="3239636" cy="195074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0"/>
              <a:ext cx="3239636" cy="50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00"/>
                </a:lnSpc>
              </a:pPr>
              <a:r>
                <a:rPr lang="en-US" sz="2500" b="1">
                  <a:solidFill>
                    <a:srgbClr val="90113E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VUYO KEBE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15030"/>
              <a:ext cx="3239636" cy="1235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Outreach Coordinator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34634" y="-84320"/>
            <a:ext cx="10455640" cy="10455640"/>
          </a:xfrm>
          <a:custGeom>
            <a:avLst/>
            <a:gdLst/>
            <a:ahLst/>
            <a:cxnLst/>
            <a:rect l="l" t="t" r="r" b="b"/>
            <a:pathLst>
              <a:path w="10455640" h="10455640">
                <a:moveTo>
                  <a:pt x="0" y="0"/>
                </a:moveTo>
                <a:lnTo>
                  <a:pt x="10455640" y="0"/>
                </a:lnTo>
                <a:lnTo>
                  <a:pt x="10455640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44460" y="3620694"/>
            <a:ext cx="10199079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Thank you!</a:t>
            </a:r>
          </a:p>
        </p:txBody>
      </p:sp>
      <p:sp>
        <p:nvSpPr>
          <p:cNvPr id="4" name="Freeform 4"/>
          <p:cNvSpPr/>
          <p:nvPr/>
        </p:nvSpPr>
        <p:spPr>
          <a:xfrm>
            <a:off x="14892730" y="1028700"/>
            <a:ext cx="2793363" cy="1396681"/>
          </a:xfrm>
          <a:custGeom>
            <a:avLst/>
            <a:gdLst/>
            <a:ahLst/>
            <a:cxnLst/>
            <a:rect l="l" t="t" r="r" b="b"/>
            <a:pathLst>
              <a:path w="2793363" h="1396681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829225" y="6671069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9257" y="893789"/>
            <a:ext cx="1079292" cy="269823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46531" y="5783817"/>
            <a:ext cx="5194937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📧 Contact: liyabona.thebe@gmail.com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ct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30106" y="7375918"/>
            <a:ext cx="838180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90113E"/>
                </a:solidFill>
                <a:latin typeface="Barlow Bold"/>
                <a:ea typeface="Barlow Bold"/>
                <a:cs typeface="Barlow Bold"/>
                <a:sym typeface="Barlow Bold"/>
              </a:rPr>
              <a:t>"Alone we can learn, but together we master.</a:t>
            </a:r>
            <a:r>
              <a:rPr lang="en-US" sz="3199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732</Words>
  <Application>Microsoft Office PowerPoint</Application>
  <PresentationFormat>Custom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Poppins</vt:lpstr>
      <vt:lpstr>Canva Sans Bold</vt:lpstr>
      <vt:lpstr>Arimo</vt:lpstr>
      <vt:lpstr>Canva Sans</vt:lpstr>
      <vt:lpstr>Barlow</vt:lpstr>
      <vt:lpstr>Barlow Bold</vt:lpstr>
      <vt:lpstr>Arial</vt:lpstr>
      <vt:lpstr>Barlow Medium</vt:lpstr>
      <vt:lpstr>Poppins Bold</vt:lpstr>
      <vt:lpstr>Barlow Semi-Bold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PLP Standard Pitch Deck Template</dc:title>
  <cp:lastModifiedBy>LIYABONA THEBE</cp:lastModifiedBy>
  <cp:revision>2</cp:revision>
  <dcterms:created xsi:type="dcterms:W3CDTF">2006-08-16T00:00:00Z</dcterms:created>
  <dcterms:modified xsi:type="dcterms:W3CDTF">2025-05-01T15:01:39Z</dcterms:modified>
  <dc:identifier>DAGmCQX7GEc</dc:identifier>
</cp:coreProperties>
</file>